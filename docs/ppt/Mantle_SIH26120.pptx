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pPr>
              <a:spcAft>
                <a:spcPts val="200"/>
              </a:spcAft>
            </a:pPr>
            <a:r>
              <a:rPr sz="4400" b="1" i="0">
                <a:solidFill>
                  <a:srgbClr val="172B4D"/>
                </a:solidFill>
                <a:latin typeface="Times New Roman"/>
              </a:rPr>
              <a:t>MANTLE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400"/>
              </a:spcAft>
            </a:pPr>
            <a:r>
              <a:rPr sz="1800" b="0" i="1">
                <a:solidFill>
                  <a:srgbClr val="0070C0"/>
                </a:solidFill>
                <a:latin typeface="Times New Roman"/>
              </a:rPr>
              <a:t>Well-to-Surface Digital Twin for CSS + SRP Heavy-Oil Wells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900"/>
              </a:spcAft>
            </a:pPr>
            <a:r>
              <a:rPr sz="1900" b="1">
                <a:solidFill>
                  <a:srgbClr val="1A1A1A"/>
                </a:solidFill>
                <a:latin typeface="Arial"/>
              </a:rPr>
              <a:t>Problem Statement ID –  </a:t>
            </a:r>
            <a:r>
              <a:rPr sz="1900" b="0">
                <a:solidFill>
                  <a:srgbClr val="1A1A1A"/>
                </a:solidFill>
                <a:latin typeface="Arial"/>
              </a:rPr>
              <a:t>SIH26120</a:t>
            </a:r>
            <a:endParaRPr lang="en-US" dirty="0"/>
          </a:p>
          <a:p>
            <a:pPr>
              <a:spcAft>
                <a:spcPts val="900"/>
              </a:spcAft>
            </a:pPr>
            <a:r>
              <a:rPr sz="1900" b="1">
                <a:solidFill>
                  <a:srgbClr val="1A1A1A"/>
                </a:solidFill>
                <a:latin typeface="Arial"/>
              </a:rPr>
              <a:t>Problem Statement Title –  </a:t>
            </a:r>
            <a:r>
              <a:rPr sz="1900" b="0">
                <a:solidFill>
                  <a:srgbClr val="1A1A1A"/>
                </a:solidFill>
                <a:latin typeface="Arial"/>
              </a:rPr>
              <a:t>Digital Twin for Well-to-Surface Optimization of Cyclic Steam Stimulation (CSS) and Sucker Rod Pump (SRP) Operations for Heavy Oil Wells of Baghewala Field</a:t>
            </a:r>
          </a:p>
          <a:p>
            <a:pPr>
              <a:spcAft>
                <a:spcPts val="900"/>
              </a:spcAft>
            </a:pPr>
            <a:r>
              <a:rPr sz="1900" b="1">
                <a:solidFill>
                  <a:srgbClr val="1A1A1A"/>
                </a:solidFill>
                <a:latin typeface="Arial"/>
              </a:rPr>
              <a:t>Theme –  </a:t>
            </a:r>
            <a:r>
              <a:rPr sz="1900" b="0">
                <a:solidFill>
                  <a:srgbClr val="1A1A1A"/>
                </a:solidFill>
                <a:latin typeface="Arial"/>
              </a:rPr>
              <a:t>Smart Automation</a:t>
            </a:r>
          </a:p>
          <a:p>
            <a:pPr>
              <a:spcAft>
                <a:spcPts val="900"/>
              </a:spcAft>
            </a:pPr>
            <a:r>
              <a:rPr sz="1900" b="1">
                <a:solidFill>
                  <a:srgbClr val="1A1A1A"/>
                </a:solidFill>
                <a:latin typeface="Arial"/>
              </a:rPr>
              <a:t>PS Category –  </a:t>
            </a:r>
            <a:r>
              <a:rPr sz="1900" b="0">
                <a:solidFill>
                  <a:srgbClr val="1A1A1A"/>
                </a:solidFill>
                <a:latin typeface="Arial"/>
              </a:rPr>
              <a:t>Software</a:t>
            </a:r>
          </a:p>
          <a:p>
            <a:pPr>
              <a:spcAft>
                <a:spcPts val="900"/>
              </a:spcAft>
            </a:pPr>
            <a:r>
              <a:rPr sz="1900" b="1">
                <a:solidFill>
                  <a:srgbClr val="1A1A1A"/>
                </a:solidFill>
                <a:latin typeface="Arial"/>
              </a:rPr>
              <a:t>Team ID –  </a:t>
            </a:r>
            <a:r>
              <a:rPr sz="1900" b="0">
                <a:solidFill>
                  <a:srgbClr val="1A1A1A"/>
                </a:solidFill>
                <a:latin typeface="Arial"/>
              </a:rPr>
              <a:t>[from SIH portal]</a:t>
            </a:r>
          </a:p>
          <a:p>
            <a:pPr>
              <a:spcAft>
                <a:spcPts val="900"/>
              </a:spcAft>
            </a:pPr>
            <a:r>
              <a:rPr sz="1900" b="1">
                <a:solidFill>
                  <a:srgbClr val="1A1A1A"/>
                </a:solidFill>
                <a:latin typeface="Arial"/>
              </a:rPr>
              <a:t>Team Name (Registered on portal) –  </a:t>
            </a:r>
            <a:r>
              <a:rPr sz="1900" b="0">
                <a:solidFill>
                  <a:srgbClr val="1A1A1A"/>
                </a:solidFill>
                <a:latin typeface="Arial"/>
              </a:rPr>
              <a:t>[team name]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 </a:t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 — MANTLE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72B4D"/>
                </a:solidFill>
                <a:latin typeface="Arial"/>
              </a:rPr>
              <a:t>TEAM</a:t>
            </a:r>
            <a:endParaRPr lang="en-IN" dirty="0"/>
          </a:p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0070C0"/>
                </a:solidFill>
                <a:latin typeface="Arial"/>
              </a:rPr>
              <a:t>MANTLE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Rectangle 15362"/>
          <p:cNvSpPr/>
          <p:nvPr/>
        </p:nvSpPr>
        <p:spPr>
          <a:xfrm>
            <a:off x="411480" y="932688"/>
            <a:ext cx="2377440" cy="41148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4" name="Rectangle 15363"/>
          <p:cNvSpPr/>
          <p:nvPr/>
        </p:nvSpPr>
        <p:spPr>
          <a:xfrm>
            <a:off x="411480" y="932688"/>
            <a:ext cx="502920" cy="41148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5" name="Rounded Rectangle 15364"/>
          <p:cNvSpPr/>
          <p:nvPr/>
        </p:nvSpPr>
        <p:spPr>
          <a:xfrm>
            <a:off x="411480" y="1078992"/>
            <a:ext cx="7726679" cy="932688"/>
          </a:xfrm>
          <a:prstGeom prst="roundRect">
            <a:avLst>
              <a:gd name="adj" fmla="val 4500"/>
            </a:avLst>
          </a:prstGeom>
          <a:solidFill>
            <a:srgbClr val="172B4D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37160" tIns="73152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MANTLE   </a:t>
            </a:r>
            <a:r>
              <a:rPr sz="1500" b="0">
                <a:solidFill>
                  <a:srgbClr val="CFE2F3"/>
                </a:solidFill>
                <a:latin typeface="Arial"/>
              </a:rPr>
              <a:t>a flight simulator and autopilot for a heavy-oil well — steam and lift decided as one.</a:t>
            </a:r>
          </a:p>
        </p:txBody>
      </p:sp>
      <p:sp>
        <p:nvSpPr>
          <p:cNvPr id="15366" name="Rounded Rectangle 15365"/>
          <p:cNvSpPr/>
          <p:nvPr/>
        </p:nvSpPr>
        <p:spPr>
          <a:xfrm>
            <a:off x="411480" y="2176272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WHAT IT IS</a:t>
            </a:r>
          </a:p>
        </p:txBody>
      </p:sp>
      <p:sp>
        <p:nvSpPr>
          <p:cNvPr id="15367" name="TextBox 15366"/>
          <p:cNvSpPr txBox="1"/>
          <p:nvPr/>
        </p:nvSpPr>
        <p:spPr>
          <a:xfrm>
            <a:off x="502920" y="2542032"/>
            <a:ext cx="7589520" cy="10515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300"/>
              </a:spcAft>
            </a:pPr>
            <a:r>
              <a:rPr sz="1050" b="0" i="0">
                <a:solidFill>
                  <a:srgbClr val="1A1A1A"/>
                </a:solidFill>
                <a:latin typeface="Arial"/>
              </a:rPr>
              <a:t>•  One live physics twin of the whole chain — steam → reservoir heat T(r,z) → viscosity → inflow → pump → 1.1-km rod string → oil · energy · ₹ · CO₂ — synced to telemetry by an EnKF (P10–P90 on every forecast).</a:t>
            </a:r>
          </a:p>
          <a:p>
            <a:pPr>
              <a:spcAft>
                <a:spcPts val="300"/>
              </a:spcAft>
            </a:pPr>
            <a:r>
              <a:rPr sz="1050" b="0" i="0">
                <a:solidFill>
                  <a:srgbClr val="1A1A1A"/>
                </a:solidFill>
                <a:latin typeface="Arial"/>
              </a:rPr>
              <a:t>•  Joint optimizer screens ~5,000 CSS + SRP plans → full-physics verify → deterministic Safety Gate vetoes unsafe plans → recommended schedule with its drivers named.</a:t>
            </a:r>
          </a:p>
        </p:txBody>
      </p:sp>
      <p:sp>
        <p:nvSpPr>
          <p:cNvPr id="15368" name="Rounded Rectangle 15367"/>
          <p:cNvSpPr/>
          <p:nvPr/>
        </p:nvSpPr>
        <p:spPr>
          <a:xfrm>
            <a:off x="411480" y="3566160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HOW IT ANSWERS THE PS</a:t>
            </a:r>
          </a:p>
        </p:txBody>
      </p:sp>
      <p:sp>
        <p:nvSpPr>
          <p:cNvPr id="15369" name="TextBox 15368"/>
          <p:cNvSpPr txBox="1"/>
          <p:nvPr/>
        </p:nvSpPr>
        <p:spPr>
          <a:xfrm>
            <a:off x="502920" y="3931920"/>
            <a:ext cx="7589520" cy="10515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300"/>
              </a:spcAft>
            </a:pPr>
            <a:r>
              <a:rPr sz="1050" b="0" i="0">
                <a:solidFill>
                  <a:srgbClr val="1A1A1A"/>
                </a:solidFill>
                <a:latin typeface="Arial"/>
              </a:rPr>
              <a:t>•  Kills the statement's core flaw — “optimized separately”: steam + lift become ONE decision; the Coupling Dividend (Vjoint − Vseq, ₹ + bbl, Shapley) prices what silos lose.</a:t>
            </a:r>
          </a:p>
          <a:p>
            <a:pPr>
              <a:spcAft>
                <a:spcPts val="300"/>
              </a:spcAft>
            </a:pPr>
            <a:r>
              <a:rPr sz="1050" b="0" i="0">
                <a:solidFill>
                  <a:srgbClr val="1A1A1A"/>
                </a:solidFill>
                <a:latin typeface="Arial"/>
              </a:rPr>
              <a:t>•  Predicts heating / cooling / production; re-plans SPM · stroke · VFD as viscosity climbs; float margin + wave-equation impact + dynocard classifier catch failures early.</a:t>
            </a:r>
          </a:p>
        </p:txBody>
      </p:sp>
      <p:sp>
        <p:nvSpPr>
          <p:cNvPr id="15370" name="Rounded Rectangle 15369"/>
          <p:cNvSpPr/>
          <p:nvPr/>
        </p:nvSpPr>
        <p:spPr>
          <a:xfrm>
            <a:off x="411480" y="4956048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4E7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WHAT'S NEW</a:t>
            </a:r>
          </a:p>
        </p:txBody>
      </p:sp>
      <p:sp>
        <p:nvSpPr>
          <p:cNvPr id="15371" name="TextBox 15370"/>
          <p:cNvSpPr txBox="1"/>
          <p:nvPr/>
        </p:nvSpPr>
        <p:spPr>
          <a:xfrm>
            <a:off x="502920" y="5321808"/>
            <a:ext cx="7589520" cy="10515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300"/>
              </a:spcAft>
            </a:pPr>
            <a:r>
              <a:rPr sz="1050" b="0" i="0">
                <a:solidFill>
                  <a:srgbClr val="1A1A1A"/>
                </a:solidFill>
                <a:latin typeface="Arial"/>
              </a:rPr>
              <a:t>•  Physics-rendered 3D twin ⇄ living Blueprint · Stroke Shaper in-stroke VFD profiling · Strategy Arena vs 8 baselines + oracle · hash-chained decision ledger · provenance on every number.</a:t>
            </a:r>
          </a:p>
        </p:txBody>
      </p:sp>
      <p:sp>
        <p:nvSpPr>
          <p:cNvPr id="15372" name="Rounded Rectangle 15371"/>
          <p:cNvSpPr/>
          <p:nvPr/>
        </p:nvSpPr>
        <p:spPr>
          <a:xfrm>
            <a:off x="8366760" y="1078992"/>
            <a:ext cx="3429000" cy="5029200"/>
          </a:xfrm>
          <a:prstGeom prst="roundRect">
            <a:avLst>
              <a:gd name="adj" fmla="val 4500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373" name="Picture 15372" descr="diagram-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8522" y="1207008"/>
            <a:ext cx="1885474" cy="4069080"/>
          </a:xfrm>
          <a:prstGeom prst="rect">
            <a:avLst/>
          </a:prstGeom>
        </p:spPr>
      </p:pic>
      <p:sp>
        <p:nvSpPr>
          <p:cNvPr id="15374" name="TextBox 15373"/>
          <p:cNvSpPr txBox="1"/>
          <p:nvPr/>
        </p:nvSpPr>
        <p:spPr>
          <a:xfrm>
            <a:off x="8503920" y="5303520"/>
            <a:ext cx="315468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 i="1">
                <a:solidFill>
                  <a:srgbClr val="595959"/>
                </a:solidFill>
                <a:latin typeface="Arial"/>
              </a:rPr>
              <a:t>The coupled chain — the steam plan sets the viscosity path; viscosity sets the safe pumping envelope.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72B4D"/>
                </a:solidFill>
                <a:latin typeface="Arial"/>
              </a:rPr>
              <a:t>TEAM</a:t>
            </a:r>
            <a:endParaRPr lang="en-IN" dirty="0"/>
          </a:p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0070C0"/>
                </a:solidFill>
                <a:latin typeface="Arial"/>
              </a:rPr>
              <a:t>MANTLE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ectangle 17410"/>
          <p:cNvSpPr/>
          <p:nvPr/>
        </p:nvSpPr>
        <p:spPr>
          <a:xfrm>
            <a:off x="411480" y="932688"/>
            <a:ext cx="2377440" cy="41148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Rectangle 17411"/>
          <p:cNvSpPr/>
          <p:nvPr/>
        </p:nvSpPr>
        <p:spPr>
          <a:xfrm>
            <a:off x="411480" y="932688"/>
            <a:ext cx="502920" cy="41148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Rounded Rectangle 17412"/>
          <p:cNvSpPr/>
          <p:nvPr/>
        </p:nvSpPr>
        <p:spPr>
          <a:xfrm>
            <a:off x="411480" y="1078992"/>
            <a:ext cx="3657600" cy="1481328"/>
          </a:xfrm>
          <a:prstGeom prst="roundRect">
            <a:avLst>
              <a:gd name="adj" fmla="val 4500"/>
            </a:avLst>
          </a:prstGeom>
          <a:solidFill>
            <a:srgbClr val="DEEAF6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73152" tIns="64008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070C0"/>
                </a:solidFill>
                <a:latin typeface="Arial"/>
              </a:rPr>
              <a:t>FRONTEND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A1A1A"/>
                </a:solidFill>
                <a:latin typeface="Arial"/>
              </a:rPr>
              <a:t>Next.js + React + TypeScript · React Three Fiber / Three.js 3D twin · D3 / visx charts · GSAP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411480" y="1170432"/>
            <a:ext cx="68580" cy="1298448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Rounded Rectangle 17414"/>
          <p:cNvSpPr/>
          <p:nvPr/>
        </p:nvSpPr>
        <p:spPr>
          <a:xfrm>
            <a:off x="4297680" y="1078992"/>
            <a:ext cx="3657600" cy="1481328"/>
          </a:xfrm>
          <a:prstGeom prst="roundRect">
            <a:avLst>
              <a:gd name="adj" fmla="val 4500"/>
            </a:avLst>
          </a:prstGeom>
          <a:solidFill>
            <a:srgbClr val="FBE9DC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73152" tIns="64008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C55A11"/>
                </a:solidFill>
                <a:latin typeface="Arial"/>
              </a:rPr>
              <a:t>ENGINE — PYTHON (uv)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A1A1A"/>
                </a:solidFill>
                <a:latin typeface="Arial"/>
              </a:rPr>
              <a:t>FastAPI · NumPy / SciPy / Numba physics · LightGBM + 1D-CNN dynocard classifier · custom EnKF · pymoo NSGA-III · OR-Tools CP-SAT · Stable-Baselines3 PPO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4297680" y="1170432"/>
            <a:ext cx="68580" cy="1298448"/>
          </a:xfrm>
          <a:prstGeom prst="roundRect">
            <a:avLst>
              <a:gd name="adj" fmla="val 50000"/>
            </a:avLst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Rounded Rectangle 17416"/>
          <p:cNvSpPr/>
          <p:nvPr/>
        </p:nvSpPr>
        <p:spPr>
          <a:xfrm>
            <a:off x="8183879" y="1078992"/>
            <a:ext cx="3657600" cy="1481328"/>
          </a:xfrm>
          <a:prstGeom prst="roundRect">
            <a:avLst>
              <a:gd name="adj" fmla="val 4500"/>
            </a:avLst>
          </a:prstGeom>
          <a:solidFill>
            <a:srgbClr val="E6EFDB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73152" tIns="64008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4E7B2D"/>
                </a:solidFill>
                <a:latin typeface="Arial"/>
              </a:rPr>
              <a:t>PLATFORM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A1A1A"/>
                </a:solidFill>
                <a:latin typeface="Arial"/>
              </a:rPr>
              <a:t>PostgreSQL + TimescaleDB · Redis streams · MinIO · Mosquitto MQTT (OPC-UA ready) · Caddy · Docker Compose — one command, fully offline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8183879" y="1170432"/>
            <a:ext cx="68580" cy="1298448"/>
          </a:xfrm>
          <a:prstGeom prst="roundRect">
            <a:avLst>
              <a:gd name="adj" fmla="val 50000"/>
            </a:avLst>
          </a:prstGeom>
          <a:solidFill>
            <a:srgbClr val="4E7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Rounded Rectangle 17418"/>
          <p:cNvSpPr/>
          <p:nvPr/>
        </p:nvSpPr>
        <p:spPr>
          <a:xfrm>
            <a:off x="411480" y="2761488"/>
            <a:ext cx="4023360" cy="310896"/>
          </a:xfrm>
          <a:prstGeom prst="roundRect">
            <a:avLst>
              <a:gd name="adj" fmla="val 50000"/>
            </a:avLst>
          </a:prstGeom>
          <a:solidFill>
            <a:srgbClr val="17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METHOD — ONE CLOSED LOOP, EVERY CYCLE</a:t>
            </a:r>
          </a:p>
        </p:txBody>
      </p:sp>
      <p:sp>
        <p:nvSpPr>
          <p:cNvPr id="17420" name="Chevron 17419"/>
          <p:cNvSpPr/>
          <p:nvPr/>
        </p:nvSpPr>
        <p:spPr>
          <a:xfrm>
            <a:off x="411480" y="3200400"/>
            <a:ext cx="1673352" cy="713232"/>
          </a:xfrm>
          <a:prstGeom prst="chevron">
            <a:avLst>
              <a:gd name="adj" fmla="val 35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Telemetry</a:t>
            </a:r>
          </a:p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MQTT</a:t>
            </a:r>
          </a:p>
        </p:txBody>
      </p:sp>
      <p:sp>
        <p:nvSpPr>
          <p:cNvPr id="17421" name="Chevron 17420"/>
          <p:cNvSpPr/>
          <p:nvPr/>
        </p:nvSpPr>
        <p:spPr>
          <a:xfrm>
            <a:off x="2002536" y="3200400"/>
            <a:ext cx="1673352" cy="713232"/>
          </a:xfrm>
          <a:prstGeom prst="chevron">
            <a:avLst>
              <a:gd name="adj" fmla="val 35000"/>
            </a:avLst>
          </a:prstGeom>
          <a:solidFill>
            <a:srgbClr val="17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Data-quality</a:t>
            </a:r>
          </a:p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audit</a:t>
            </a:r>
          </a:p>
        </p:txBody>
      </p:sp>
      <p:sp>
        <p:nvSpPr>
          <p:cNvPr id="17422" name="Chevron 17421"/>
          <p:cNvSpPr/>
          <p:nvPr/>
        </p:nvSpPr>
        <p:spPr>
          <a:xfrm>
            <a:off x="3593591" y="3200400"/>
            <a:ext cx="1673352" cy="713232"/>
          </a:xfrm>
          <a:prstGeom prst="chevron">
            <a:avLst>
              <a:gd name="adj" fmla="val 35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EnKF twin</a:t>
            </a:r>
          </a:p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P10–P90</a:t>
            </a:r>
          </a:p>
        </p:txBody>
      </p:sp>
      <p:sp>
        <p:nvSpPr>
          <p:cNvPr id="17423" name="Chevron 17422"/>
          <p:cNvSpPr/>
          <p:nvPr/>
        </p:nvSpPr>
        <p:spPr>
          <a:xfrm>
            <a:off x="5184648" y="3200400"/>
            <a:ext cx="1673352" cy="713232"/>
          </a:xfrm>
          <a:prstGeom prst="chevron">
            <a:avLst>
              <a:gd name="adj" fmla="val 35000"/>
            </a:avLst>
          </a:prstGeom>
          <a:solidFill>
            <a:srgbClr val="17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Forecast</a:t>
            </a:r>
          </a:p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fan</a:t>
            </a:r>
          </a:p>
        </p:txBody>
      </p:sp>
      <p:sp>
        <p:nvSpPr>
          <p:cNvPr id="17424" name="Chevron 17423"/>
          <p:cNvSpPr/>
          <p:nvPr/>
        </p:nvSpPr>
        <p:spPr>
          <a:xfrm>
            <a:off x="6775704" y="3200400"/>
            <a:ext cx="1673352" cy="713232"/>
          </a:xfrm>
          <a:prstGeom prst="chevron">
            <a:avLst>
              <a:gd name="adj" fmla="val 35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NSGA-III</a:t>
            </a:r>
          </a:p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~5k plans</a:t>
            </a:r>
          </a:p>
        </p:txBody>
      </p:sp>
      <p:sp>
        <p:nvSpPr>
          <p:cNvPr id="17425" name="Chevron 17424"/>
          <p:cNvSpPr/>
          <p:nvPr/>
        </p:nvSpPr>
        <p:spPr>
          <a:xfrm>
            <a:off x="8366760" y="3200400"/>
            <a:ext cx="1673352" cy="713232"/>
          </a:xfrm>
          <a:prstGeom prst="chevron">
            <a:avLst>
              <a:gd name="adj" fmla="val 35000"/>
            </a:avLst>
          </a:prstGeom>
          <a:solidFill>
            <a:srgbClr val="17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Physics +</a:t>
            </a:r>
          </a:p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Safety Gate</a:t>
            </a:r>
          </a:p>
        </p:txBody>
      </p:sp>
      <p:sp>
        <p:nvSpPr>
          <p:cNvPr id="17426" name="Chevron 17425"/>
          <p:cNvSpPr/>
          <p:nvPr/>
        </p:nvSpPr>
        <p:spPr>
          <a:xfrm>
            <a:off x="9957816" y="3200400"/>
            <a:ext cx="1673352" cy="713232"/>
          </a:xfrm>
          <a:prstGeom prst="chevron">
            <a:avLst>
              <a:gd name="adj" fmla="val 35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Schedule →</a:t>
            </a:r>
          </a:p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ledger score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411480" y="4160520"/>
            <a:ext cx="6263640" cy="20116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300"/>
              </a:spcAft>
            </a:pPr>
            <a:r>
              <a:rPr sz="1100" b="1" i="0">
                <a:solidFill>
                  <a:srgbClr val="0070C0"/>
                </a:solidFill>
                <a:latin typeface="Arial"/>
              </a:rPr>
              <a:t>ENGINEERING RIGOUR</a:t>
            </a:r>
          </a:p>
          <a:p>
            <a:pPr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Arial"/>
              </a:rPr>
              <a:t>•  All physics from published standards — IAPWS-IF97, Ramey / Willhite, Marx–Langenheim + r–z thermal grid, Walther / ASTM D341, Boberg–Lantz, Gibbs wave equation, API RP 11L, Modified Goodman — each unit-tested against its worked example.</a:t>
            </a:r>
          </a:p>
          <a:p>
            <a:pPr>
              <a:spcAft>
                <a:spcPts val="300"/>
              </a:spcAft>
            </a:pPr>
            <a:r>
              <a:rPr sz="1100" b="1" i="0">
                <a:solidFill>
                  <a:srgbClr val="C55A11"/>
                </a:solidFill>
                <a:latin typeface="Arial"/>
              </a:rPr>
              <a:t>PROTOTYPE PROOF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Arial"/>
              </a:rPr>
              <a:t>•  Strategy Arena races 9 strategies — static, tuned, heuristic, pump-off, greedy, sequential-silo, shielded RL, Mantle joint MPC, oracle bound — on identical simulated wells with paired confidence intervals.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6858000" y="4114800"/>
            <a:ext cx="4937760" cy="2103120"/>
          </a:xfrm>
          <a:prstGeom prst="roundRect">
            <a:avLst>
              <a:gd name="adj" fmla="val 4500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29" name="Picture 17428" descr="diagram-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7540" y="4169663"/>
            <a:ext cx="1778678" cy="1755648"/>
          </a:xfrm>
          <a:prstGeom prst="rect">
            <a:avLst/>
          </a:prstGeom>
        </p:spPr>
      </p:pic>
      <p:sp>
        <p:nvSpPr>
          <p:cNvPr id="17430" name="TextBox 17429"/>
          <p:cNvSpPr txBox="1"/>
          <p:nvPr/>
        </p:nvSpPr>
        <p:spPr>
          <a:xfrm>
            <a:off x="6967728" y="5943600"/>
            <a:ext cx="4718304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1">
                <a:solidFill>
                  <a:srgbClr val="595959"/>
                </a:solidFill>
                <a:latin typeface="Arial"/>
              </a:rPr>
              <a:t>System context — synthetic SCADA today; OIL SCADA via the same MQTT / OPC-UA path.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72B4D"/>
                </a:solidFill>
                <a:latin typeface="Arial"/>
              </a:rPr>
              <a:t>TEAM</a:t>
            </a:r>
            <a:endParaRPr lang="en-IN" dirty="0"/>
          </a:p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0070C0"/>
                </a:solidFill>
                <a:latin typeface="Arial"/>
              </a:rPr>
              <a:t>MANTLE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ectangle 17410"/>
          <p:cNvSpPr/>
          <p:nvPr/>
        </p:nvSpPr>
        <p:spPr>
          <a:xfrm>
            <a:off x="411480" y="932688"/>
            <a:ext cx="2377440" cy="41148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Rectangle 17411"/>
          <p:cNvSpPr/>
          <p:nvPr/>
        </p:nvSpPr>
        <p:spPr>
          <a:xfrm>
            <a:off x="411480" y="932688"/>
            <a:ext cx="502920" cy="41148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Rounded Rectangle 17412"/>
          <p:cNvSpPr/>
          <p:nvPr/>
        </p:nvSpPr>
        <p:spPr>
          <a:xfrm>
            <a:off x="411480" y="1078992"/>
            <a:ext cx="3657600" cy="1664208"/>
          </a:xfrm>
          <a:prstGeom prst="roundRect">
            <a:avLst>
              <a:gd name="adj" fmla="val 4500"/>
            </a:avLst>
          </a:prstGeom>
          <a:solidFill>
            <a:srgbClr val="DEEAF6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73152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070C0"/>
                </a:solidFill>
                <a:latin typeface="Arial"/>
              </a:rPr>
              <a:t>NO RESEARCH RISK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Arial"/>
              </a:rPr>
              <a:t>Every model is a published standard or paper; open-source stack; runs fully offline on one laptop — docker compose up.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411480" y="1170432"/>
            <a:ext cx="68580" cy="1481328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Rounded Rectangle 17414"/>
          <p:cNvSpPr/>
          <p:nvPr/>
        </p:nvSpPr>
        <p:spPr>
          <a:xfrm>
            <a:off x="4297680" y="1078992"/>
            <a:ext cx="3657600" cy="1664208"/>
          </a:xfrm>
          <a:prstGeom prst="roundRect">
            <a:avLst>
              <a:gd name="adj" fmla="val 4500"/>
            </a:avLst>
          </a:prstGeom>
          <a:solidFill>
            <a:srgbClr val="FBE9DC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73152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C55A11"/>
                </a:solidFill>
                <a:latin typeface="Arial"/>
              </a:rPr>
              <a:t>NO PUBLIC WELL DATA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Arial"/>
              </a:rPr>
              <a:t>So we built Baghewala-S: a physics-synthetic field (30 wells × 3 yrs, noise, faults, failures) calibrated to OIL anchors — 17–19° API · 46–48 °C · ~10–13 kcP · 14–21 d steam.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4297680" y="1170432"/>
            <a:ext cx="68580" cy="1481328"/>
          </a:xfrm>
          <a:prstGeom prst="roundRect">
            <a:avLst>
              <a:gd name="adj" fmla="val 50000"/>
            </a:avLst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Rounded Rectangle 17416"/>
          <p:cNvSpPr/>
          <p:nvPr/>
        </p:nvSpPr>
        <p:spPr>
          <a:xfrm>
            <a:off x="8183879" y="1078992"/>
            <a:ext cx="3657600" cy="1664208"/>
          </a:xfrm>
          <a:prstGeom prst="roundRect">
            <a:avLst>
              <a:gd name="adj" fmla="val 4500"/>
            </a:avLst>
          </a:prstGeom>
          <a:solidFill>
            <a:srgbClr val="E6EFDB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73152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4E7B2D"/>
                </a:solidFill>
                <a:latin typeface="Arial"/>
              </a:rPr>
              <a:t>REAL-DATA READY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Arial"/>
              </a:rPr>
              <a:t>Canonical schema maps 1:1 to the PS's 7 data categories; MQTT / OPC-UA / CSV adapters need no code change; EnKF is the calibration path; anomaly pipeline validated on real Petrobras 3W data.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8183879" y="1170432"/>
            <a:ext cx="68580" cy="1481328"/>
          </a:xfrm>
          <a:prstGeom prst="roundRect">
            <a:avLst>
              <a:gd name="adj" fmla="val 50000"/>
            </a:avLst>
          </a:prstGeom>
          <a:solidFill>
            <a:srgbClr val="4E7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Rounded Rectangle 17418"/>
          <p:cNvSpPr/>
          <p:nvPr/>
        </p:nvSpPr>
        <p:spPr>
          <a:xfrm>
            <a:off x="411480" y="2980944"/>
            <a:ext cx="3291840" cy="310896"/>
          </a:xfrm>
          <a:prstGeom prst="roundRect">
            <a:avLst>
              <a:gd name="adj" fmla="val 50000"/>
            </a:avLst>
          </a:prstGeom>
          <a:solidFill>
            <a:srgbClr val="17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CHALLENGES  →  HOW WE BEAT THEM</a:t>
            </a:r>
          </a:p>
        </p:txBody>
      </p:sp>
      <p:graphicFrame>
        <p:nvGraphicFramePr>
          <p:cNvPr id="17420" name="Table 17419"/>
          <p:cNvGraphicFramePr>
            <a:graphicFrameLocks noGrp="1"/>
          </p:cNvGraphicFramePr>
          <p:nvPr/>
        </p:nvGraphicFramePr>
        <p:xfrm>
          <a:off x="411480" y="3438144"/>
          <a:ext cx="11384279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39"/>
                <a:gridCol w="7635240"/>
              </a:tblGrid>
              <a:tr h="4572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RISK / CHALLENGE</a:t>
                      </a:r>
                    </a:p>
                  </a:txBody>
                  <a:tcPr anchor="ctr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MITIGATION</a:t>
                      </a:r>
                    </a:p>
                  </a:txBody>
                  <a:tcPr anchor="ctr" marT="36576" marB="36576">
                    <a:solidFill>
                      <a:srgbClr val="172B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rial"/>
                        </a:rPr>
                        <a:t>Venue machine can't run the 3D twin</a:t>
                      </a:r>
                    </a:p>
                  </a:txBody>
                  <a:tcPr anchor="ctr" marT="27432" marB="27432" marL="91440">
                    <a:solidFill>
                      <a:srgbClr val="FBE9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Own laptop · auto-quality ladder · pre-rendered transition video · whole demo runs offline</a:t>
                      </a:r>
                    </a:p>
                  </a:txBody>
                  <a:tcPr anchor="ctr" marT="27432" marB="27432" marL="9144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rial"/>
                        </a:rPr>
                        <a:t>Judges challenge synthetic data</a:t>
                      </a:r>
                    </a:p>
                  </a:txBody>
                  <a:tcPr anchor="ctr" marT="27432" marB="27432" marL="91440">
                    <a:solidFill>
                      <a:srgbClr val="FBE9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SIM tag on every number · source + assumption registries · Petrobras 3W real-data validation · never sold as field results</a:t>
                      </a:r>
                    </a:p>
                  </a:txBody>
                  <a:tcPr anchor="ctr" marT="27432" marB="27432" marL="91440">
                    <a:solidFill>
                      <a:srgbClr val="DEEA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rial"/>
                        </a:rPr>
                        <a:t>Physics too slow for a live demo</a:t>
                      </a:r>
                    </a:p>
                  </a:txBody>
                  <a:tcPr anchor="ctr" marT="27432" marB="27432" marL="91440">
                    <a:solidFill>
                      <a:srgbClr val="FBE9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Surrogates pre-screen, full physics verifies · pre-computed official Arena run + &lt; 30 s live mini-run</a:t>
                      </a:r>
                    </a:p>
                  </a:txBody>
                  <a:tcPr anchor="ctr" marT="27432" marB="27432" marL="9144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rial"/>
                        </a:rPr>
                        <a:t>Scope sprawl / nothing polished</a:t>
                      </a:r>
                    </a:p>
                  </a:txBody>
                  <a:tcPr anchor="ctr" marT="27432" marB="27432" marL="91440">
                    <a:solidFill>
                      <a:srgbClr val="FBE9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13 phases, each with a demoable exit · main always green · golden-scenario tests</a:t>
                      </a:r>
                    </a:p>
                  </a:txBody>
                  <a:tcPr anchor="ctr" marT="27432" marB="27432" marL="91440">
                    <a:solidFill>
                      <a:srgbClr val="DEEA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rial"/>
                        </a:rPr>
                        <a:t>RL contender underperforms</a:t>
                      </a:r>
                    </a:p>
                  </a:txBody>
                  <a:tcPr anchor="ctr" marT="27432" marB="27432" marL="91440">
                    <a:solidFill>
                      <a:srgbClr val="FBE9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RL is only a benchmarked Arena contender — the MPC core never depends on it; the Arena reports either result honestly</a:t>
                      </a:r>
                    </a:p>
                  </a:txBody>
                  <a:tcPr anchor="ctr" marT="27432" marB="27432" marL="914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72B4D"/>
                </a:solidFill>
                <a:latin typeface="Arial"/>
              </a:rPr>
              <a:t>TEAM</a:t>
            </a:r>
            <a:endParaRPr lang="en-IN" dirty="0"/>
          </a:p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0070C0"/>
                </a:solidFill>
                <a:latin typeface="Arial"/>
              </a:rPr>
              <a:t>MANTLE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ectangle 17410"/>
          <p:cNvSpPr/>
          <p:nvPr/>
        </p:nvSpPr>
        <p:spPr>
          <a:xfrm>
            <a:off x="411480" y="932688"/>
            <a:ext cx="2377440" cy="41148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Rectangle 17411"/>
          <p:cNvSpPr/>
          <p:nvPr/>
        </p:nvSpPr>
        <p:spPr>
          <a:xfrm>
            <a:off x="411480" y="932688"/>
            <a:ext cx="502920" cy="41148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Rounded Rectangle 17412"/>
          <p:cNvSpPr/>
          <p:nvPr/>
        </p:nvSpPr>
        <p:spPr>
          <a:xfrm>
            <a:off x="411480" y="1051560"/>
            <a:ext cx="11384280" cy="566928"/>
          </a:xfrm>
          <a:prstGeom prst="roundRect">
            <a:avLst>
              <a:gd name="adj" fmla="val 4500"/>
            </a:avLst>
          </a:prstGeom>
          <a:solidFill>
            <a:srgbClr val="DEEAF6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172B4D"/>
                </a:solidFill>
                <a:latin typeface="Arial"/>
              </a:rPr>
              <a:t>TARGET AUDIENCE   </a:t>
            </a:r>
            <a:r>
              <a:rPr sz="1150" b="0">
                <a:solidFill>
                  <a:srgbClr val="1A1A1A"/>
                </a:solidFill>
                <a:latin typeface="Arial"/>
              </a:rPr>
              <a:t>Oil India production engineers &amp; field managers on Baghewala CSS + SRP wells — and, at fleet scale, India's domestic heavy-oil output (India imports most of its crude).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411480" y="1783080"/>
            <a:ext cx="3657600" cy="3886200"/>
          </a:xfrm>
          <a:prstGeom prst="roundRect">
            <a:avLst>
              <a:gd name="adj" fmla="val 4500"/>
            </a:avLst>
          </a:prstGeom>
          <a:solidFill>
            <a:srgbClr val="DEEAF6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09728" tIns="91440"/>
          <a:lstStyle/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0070C0"/>
                </a:solidFill>
                <a:latin typeface="Arial"/>
              </a:rPr>
              <a:t>ECONOMIC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Arial"/>
              </a:rPr>
              <a:t>•  ↑ oil recovered per cycle &amp; per 180 d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Arial"/>
              </a:rPr>
              <a:t>•  Coupling Dividend — measurable ₹/cycle from joint optimization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Arial"/>
              </a:rPr>
              <a:t>•  ↓ lifting cost ₹/bbl (steam + power + water + maintenance)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Arial"/>
              </a:rPr>
              <a:t>•  fewer rod failures, unsettings, workovers, deferred oil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Arial"/>
              </a:rPr>
              <a:t>•  longer equipment life (tracked Goodman fatigue)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Arial"/>
              </a:rPr>
              <a:t>•  field scheduler sends scarce steam-days to highest-value wells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4297680" y="1783080"/>
            <a:ext cx="3657600" cy="3886200"/>
          </a:xfrm>
          <a:prstGeom prst="roundRect">
            <a:avLst>
              <a:gd name="adj" fmla="val 4500"/>
            </a:avLst>
          </a:prstGeom>
          <a:solidFill>
            <a:srgbClr val="E6EFDB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09728" tIns="91440"/>
          <a:lstStyle/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4E7B2D"/>
                </a:solidFill>
                <a:latin typeface="Arial"/>
              </a:rPr>
              <a:t>ENVIRONMENTAL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Arial"/>
              </a:rPr>
              <a:t>•  ↓ SOR → less fuel gas burned per barrel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Arial"/>
              </a:rPr>
              <a:t>•  ↓ CO₂e/bbl (IPCC + CEA emission factors)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Arial"/>
              </a:rPr>
              <a:t>•  ↓ fresh water/bbl — the scarcest resource in the Thar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Arial"/>
              </a:rPr>
              <a:t>•  solar-thermal steam hybrid (Rajasthan DNI) option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Arial"/>
              </a:rPr>
              <a:t>•  fewer workovers → less diesel, less waste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8183879" y="1783080"/>
            <a:ext cx="3657600" cy="3886200"/>
          </a:xfrm>
          <a:prstGeom prst="roundRect">
            <a:avLst>
              <a:gd name="adj" fmla="val 4500"/>
            </a:avLst>
          </a:prstGeom>
          <a:solidFill>
            <a:srgbClr val="FBE9DC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09728" tIns="91440"/>
          <a:lstStyle/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C55A11"/>
                </a:solidFill>
                <a:latin typeface="Arial"/>
              </a:rPr>
              <a:t>SOCIAL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Arial"/>
              </a:rPr>
              <a:t>•  fewer high-risk states → fewer emergency interventions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Arial"/>
              </a:rPr>
              <a:t>•  fewer unplanned site visits in 45–48 °C heat (heat-stress exposure)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Arial"/>
              </a:rPr>
              <a:t>•  senior operators' judgement captured as institutional memory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Arial"/>
              </a:rPr>
              <a:t>•  Challenge mode = safe training sim for young engineers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Arial"/>
              </a:rPr>
              <a:t>•  every decision auditable → field–office trust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411480" y="5779008"/>
            <a:ext cx="11384280" cy="457200"/>
          </a:xfrm>
          <a:prstGeom prst="roundRect">
            <a:avLst>
              <a:gd name="adj" fmla="val 4500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36576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72B4D"/>
                </a:solidFill>
                <a:latin typeface="Arial"/>
              </a:rPr>
              <a:t>METHOD   </a:t>
            </a:r>
            <a:r>
              <a:rPr sz="1000" b="0">
                <a:solidFill>
                  <a:srgbClr val="595959"/>
                </a:solidFill>
                <a:latin typeface="Arial"/>
              </a:rPr>
              <a:t>every figure is Mantle-vs-baseline on identical simulated wells (Baghewala-S, N seeds, mean ± sd), tagged SIM — never presented as field results.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72B4D"/>
                </a:solidFill>
                <a:latin typeface="Arial"/>
              </a:rPr>
              <a:t>TEAM</a:t>
            </a:r>
            <a:endParaRPr lang="en-IN" dirty="0"/>
          </a:p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0070C0"/>
                </a:solidFill>
                <a:latin typeface="Arial"/>
              </a:rPr>
              <a:t>MANTLE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ectangle 17410"/>
          <p:cNvSpPr/>
          <p:nvPr/>
        </p:nvSpPr>
        <p:spPr>
          <a:xfrm>
            <a:off x="411480" y="932688"/>
            <a:ext cx="2377440" cy="41148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Rectangle 17411"/>
          <p:cNvSpPr/>
          <p:nvPr/>
        </p:nvSpPr>
        <p:spPr>
          <a:xfrm>
            <a:off x="411480" y="932688"/>
            <a:ext cx="502920" cy="41148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Rounded Rectangle 17412"/>
          <p:cNvSpPr/>
          <p:nvPr/>
        </p:nvSpPr>
        <p:spPr>
          <a:xfrm>
            <a:off x="411480" y="1078992"/>
            <a:ext cx="5577840" cy="4069080"/>
          </a:xfrm>
          <a:prstGeom prst="roundRect">
            <a:avLst>
              <a:gd name="adj" fmla="val 4500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37160" tIns="91440"/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0070C0"/>
                </a:solidFill>
                <a:latin typeface="Arial"/>
              </a:rPr>
              <a:t>FIELD &amp; PROBLEM</a:t>
            </a:r>
          </a:p>
          <a:p>
            <a:pPr algn="l">
              <a:spcAft>
                <a:spcPts val="35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•  SIH 2026 Problem Statement SIH26120 (Oil India Limited)</a:t>
            </a:r>
          </a:p>
          <a:p>
            <a:pPr algn="l">
              <a:spcAft>
                <a:spcPts val="35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•  Oil India — Rajasthan Fields (Baghewala viscosity, CSS durations, VIT, completions)</a:t>
            </a:r>
          </a:p>
          <a:p>
            <a:pPr algn="l">
              <a:spcAft>
                <a:spcPts val="35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•  ACT SHARP consortium D4.1 (2022) — Baghewala geological characterization</a:t>
            </a:r>
          </a:p>
          <a:p>
            <a:pPr algn="l">
              <a:spcAft>
                <a:spcPts val="35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•  SPE papers on Baghewala CSS (e.g. APOG 2023)</a:t>
            </a:r>
          </a:p>
          <a:p>
            <a:pPr algn="l">
              <a:spcBef>
                <a:spcPts val="1000"/>
              </a:spcBef>
              <a:spcAft>
                <a:spcPts val="400"/>
              </a:spcAft>
            </a:pPr>
            <a:r>
              <a:rPr sz="1250" b="1" i="0">
                <a:solidFill>
                  <a:srgbClr val="C55A11"/>
                </a:solidFill>
                <a:latin typeface="Arial"/>
              </a:rPr>
              <a:t>PHYSICS — FROM PRIMARY SOURCES</a:t>
            </a:r>
          </a:p>
          <a:p>
            <a:pPr algn="l">
              <a:spcAft>
                <a:spcPts val="35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•  Marx &amp; Langenheim (1959) reservoir heating · Boberg &amp; Lantz (1966) stimulated productivity · Ramey (1962) + Willhite (1967) wellbore heat · Vogel (1968) inflow</a:t>
            </a:r>
          </a:p>
          <a:p>
            <a:pPr algn="l">
              <a:spcAft>
                <a:spcPts val="35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•  Gibbs (1963) rod-pump wave equation · Everitt &amp; Jennings (1992) downhole cards · API RP 11L / Spec 11E / RP 11BR · ASTM D341 · IAPWS-IF97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6217920" y="1078992"/>
            <a:ext cx="5577840" cy="4069080"/>
          </a:xfrm>
          <a:prstGeom prst="roundRect">
            <a:avLst>
              <a:gd name="adj" fmla="val 4500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37160" tIns="91440"/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4E7B2D"/>
                </a:solidFill>
                <a:latin typeface="Arial"/>
              </a:rPr>
              <a:t>ESTIMATION, ML &amp; OPTIMIZATION</a:t>
            </a:r>
          </a:p>
          <a:p>
            <a:pPr algn="l">
              <a:spcAft>
                <a:spcPts val="35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•  Evensen (2009) Ensemble Kalman Filter · Deb et al. (2002) NSGA-II · Angelopoulos &amp; Bates (2021) conformal prediction · Lundberg &amp; Lee (2017) SHAP</a:t>
            </a:r>
          </a:p>
          <a:p>
            <a:pPr algn="l">
              <a:spcAft>
                <a:spcPts val="35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•  Hansen et al. (2018) model-predictive sucker-rod-pump control (BYU-PRISM)</a:t>
            </a:r>
          </a:p>
          <a:p>
            <a:pPr algn="l">
              <a:spcBef>
                <a:spcPts val="1000"/>
              </a:spcBef>
              <a:spcAft>
                <a:spcPts val="400"/>
              </a:spcAft>
            </a:pPr>
            <a:r>
              <a:rPr sz="1250" b="1" i="0">
                <a:solidFill>
                  <a:srgbClr val="172B4D"/>
                </a:solidFill>
                <a:latin typeface="Arial"/>
              </a:rPr>
              <a:t>DATA &amp; STANDARDS</a:t>
            </a:r>
          </a:p>
          <a:p>
            <a:pPr algn="l">
              <a:spcAft>
                <a:spcPts val="35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•  Vargas et al. (2019) — Petrobras 3W dataset (Apache-2.0): real well-event data validating the anomaly pipeline</a:t>
            </a:r>
          </a:p>
          <a:p>
            <a:pPr algn="l">
              <a:spcAft>
                <a:spcPts val="35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•  ISA-101 HMI · ISA-18.2 alarms · ISO 128 drawing · ISO/PAS 12835 thermal casing connections</a:t>
            </a:r>
          </a:p>
          <a:p>
            <a:pPr algn="l">
              <a:spcAft>
                <a:spcPts val="35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•  Prior-art review — 25 public SIH26120 repos surveyed (29 Sep 2026); MIT data reused only with attribution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411480" y="5349240"/>
            <a:ext cx="11384280" cy="502920"/>
          </a:xfrm>
          <a:prstGeom prst="roundRect">
            <a:avLst>
              <a:gd name="adj" fmla="val 4500"/>
            </a:avLst>
          </a:prstGeom>
          <a:solidFill>
            <a:srgbClr val="DEEAF6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36576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72B4D"/>
                </a:solidFill>
                <a:latin typeface="Arial"/>
              </a:rPr>
              <a:t>SOURCE TRUTH   </a:t>
            </a:r>
            <a:r>
              <a:rPr sz="1050" b="0">
                <a:solidFill>
                  <a:srgbClr val="1A1A1A"/>
                </a:solidFill>
                <a:latin typeface="Arial"/>
              </a:rPr>
              <a:t>every constant carries a tag — PUB (published) · SIM (simulated) · ASSUM (assumption registry) · EST (estimated) · MEAS (measured). Full bibliography + verification status: plan.md Appendix D.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